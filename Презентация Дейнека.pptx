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B54FF-4895-48BD-8F48-A19C171F8785}" type="datetimeFigureOut">
              <a:rPr lang="ru-RU"/>
              <a:t>03.04.2018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C31A6-C82B-43A8-8A56-359B95708408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02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30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30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3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766" y="1753530"/>
            <a:ext cx="10326586" cy="14509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 err="1"/>
              <a:t>Компьютерная</a:t>
            </a:r>
            <a:r>
              <a:rPr lang="en-US" sz="5400" dirty="0"/>
              <a:t> </a:t>
            </a:r>
            <a:r>
              <a:rPr lang="en-US" sz="5400" dirty="0" err="1"/>
              <a:t>модель</a:t>
            </a:r>
            <a:r>
              <a:rPr lang="en-US" sz="5400" dirty="0"/>
              <a:t> </a:t>
            </a:r>
            <a:r>
              <a:rPr lang="en-US" sz="5400" dirty="0" err="1"/>
              <a:t>ремасштабирования</a:t>
            </a:r>
            <a:r>
              <a:rPr lang="en-US" sz="5400" dirty="0"/>
              <a:t> </a:t>
            </a:r>
            <a:r>
              <a:rPr lang="en-US" sz="5400" dirty="0" err="1"/>
              <a:t>сложных</a:t>
            </a:r>
            <a:r>
              <a:rPr lang="en-US" sz="5400" dirty="0"/>
              <a:t> </a:t>
            </a:r>
            <a:r>
              <a:rPr lang="en-US" sz="5400" dirty="0" err="1"/>
              <a:t>сцен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для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моделей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процессов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переноса</a:t>
            </a:r>
            <a:endParaRPr lang="en-US" sz="5400" dirty="0" err="1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6217" y="5265014"/>
            <a:ext cx="5700305" cy="646331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ru-RU" dirty="0"/>
              <a:t>Автор: Дейнека Д.А., 435 группа</a:t>
            </a:r>
          </a:p>
          <a:p>
            <a:r>
              <a:rPr lang="ru-RU" dirty="0"/>
              <a:t>Научный руководитель: к.т.н., доцент Грачёв Е.А.</a:t>
            </a:r>
          </a:p>
        </p:txBody>
      </p:sp>
    </p:spTree>
    <p:extLst>
      <p:ext uri="{BB962C8B-B14F-4D97-AF65-F5344CB8AC3E}">
        <p14:creationId xmlns:p14="http://schemas.microsoft.com/office/powerpoint/2010/main" val="292938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ru-RU" sz="2800" dirty="0"/>
              <a:t>Цель работы: разработка механизма, позволяющего с некоторой точностью решать задачу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r>
              <a:rPr lang="ru-RU" sz="2800" dirty="0"/>
              <a:t>При решении задачи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 мы неизбежно столкнёмся с необходимостью построения карт признаков различных размеров. Поэтому в рамках данной работы были поставлены следующие задачи: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двумерных карт признаков.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трёхмерных карт признаков.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51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96652-050D-4076-9D17-FDDBB4EF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B3F04-2C48-4DBA-9C2F-69774A80B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dirty="0">
                <a:cs typeface="Calibri"/>
              </a:rPr>
              <a:t>S — область определения одного изображения;</a:t>
            </a:r>
          </a:p>
          <a:p>
            <a:r>
              <a:rPr lang="ru-RU" dirty="0">
                <a:cs typeface="Calibri"/>
              </a:rPr>
              <a:t>Ω — замкнутое подмножество S с границей </a:t>
            </a:r>
            <a:r>
              <a:rPr lang="ru-RU" dirty="0" err="1">
                <a:cs typeface="Calibri"/>
              </a:rPr>
              <a:t>δΩ</a:t>
            </a:r>
            <a:r>
              <a:rPr lang="ru-RU" dirty="0">
                <a:cs typeface="Calibri"/>
              </a:rPr>
              <a:t>, область пересечения изображений;</a:t>
            </a:r>
          </a:p>
          <a:p>
            <a:r>
              <a:rPr lang="ru-RU" dirty="0">
                <a:cs typeface="Calibri"/>
              </a:rPr>
              <a:t>f*:                   — скалярная известная функция, определённая на S;</a:t>
            </a:r>
          </a:p>
          <a:p>
            <a:r>
              <a:rPr lang="ru-RU" dirty="0">
                <a:cs typeface="Calibri"/>
              </a:rPr>
              <a:t>f:                 — скалярная неизвестная функция, определённая на Ω.</a:t>
            </a:r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CC091357-9EC0-4B11-B0CC-6AF2A719AD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6537" y="2478840"/>
            <a:ext cx="4943475" cy="2752725"/>
          </a:xfrm>
          <a:prstGeom prst="rect">
            <a:avLst/>
          </a:prstGeom>
        </p:spPr>
      </p:pic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5866D90A-198C-415D-8205-04D7523D2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27" y="3600912"/>
            <a:ext cx="971550" cy="295275"/>
          </a:xfrm>
          <a:prstGeom prst="rect">
            <a:avLst/>
          </a:prstGeom>
        </p:spPr>
      </p:pic>
      <p:pic>
        <p:nvPicPr>
          <p:cNvPr id="7" name="Рисунок 5">
            <a:extLst>
              <a:ext uri="{FF2B5EF4-FFF2-40B4-BE49-F238E27FC236}">
                <a16:creationId xmlns:a16="http://schemas.microsoft.com/office/drawing/2014/main" id="{49929B0B-09CE-4017-B331-E90B0217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25" y="4313903"/>
            <a:ext cx="9715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70104-AF82-407C-98CA-53357F67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AB84BA10-9C09-4209-9498-F606AED768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7920" y="2484348"/>
            <a:ext cx="4937760" cy="2746134"/>
          </a:xfrm>
          <a:prstGeom prst="rect">
            <a:avLst/>
          </a:prstGeom>
        </p:spPr>
      </p:pic>
      <p:pic>
        <p:nvPicPr>
          <p:cNvPr id="13" name="Рисунок 13" descr="Изображение выглядит как объек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57D46B7E-8CFE-4A4C-91C5-50BE903876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64140" y="2349237"/>
            <a:ext cx="2656554" cy="8778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A4A5A5-ACE4-4C4F-910A-0426E6CA3293}"/>
              </a:ext>
            </a:extLst>
          </p:cNvPr>
          <p:cNvSpPr txBox="1"/>
          <p:nvPr/>
        </p:nvSpPr>
        <p:spPr>
          <a:xfrm>
            <a:off x="693173" y="1983657"/>
            <a:ext cx="5471651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Решаем задачу</a:t>
            </a:r>
            <a:r>
              <a:rPr lang="ru-RU" dirty="0">
                <a:cs typeface="Calibri"/>
              </a:rPr>
              <a:t> о минимизации функционала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5329C-CF7E-4D63-B9FD-6DFBAE3F5307}"/>
              </a:ext>
            </a:extLst>
          </p:cNvPr>
          <p:cNvSpPr txBox="1"/>
          <p:nvPr/>
        </p:nvSpPr>
        <p:spPr>
          <a:xfrm>
            <a:off x="693174" y="3237270"/>
            <a:ext cx="5606843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Где v</a:t>
            </a:r>
            <a:r>
              <a:rPr lang="ru-RU" dirty="0">
                <a:cs typeface="Calibri"/>
              </a:rPr>
              <a:t> — градиент одного из изображений в области Ω.</a:t>
            </a:r>
          </a:p>
          <a:p>
            <a:r>
              <a:rPr lang="ru-RU" dirty="0">
                <a:cs typeface="Calibri"/>
              </a:rPr>
              <a:t>Далее задача сводится к решению уравнения Пуассона с граничными условиями Дирихле.</a:t>
            </a:r>
          </a:p>
        </p:txBody>
      </p:sp>
      <p:pic>
        <p:nvPicPr>
          <p:cNvPr id="17" name="Рисунок 17">
            <a:extLst>
              <a:ext uri="{FF2B5EF4-FFF2-40B4-BE49-F238E27FC236}">
                <a16:creationId xmlns:a16="http://schemas.microsoft.com/office/drawing/2014/main" id="{182BE58A-AF4A-44DE-A2A1-2BC08E09D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020" y="4404237"/>
            <a:ext cx="1872125" cy="618204"/>
          </a:xfrm>
          <a:prstGeom prst="rect">
            <a:avLst/>
          </a:prstGeom>
        </p:spPr>
      </p:pic>
      <p:pic>
        <p:nvPicPr>
          <p:cNvPr id="19" name="Рисунок 19" descr="Изображение выглядит как объек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2AC51BDB-D5F5-4663-BA2F-57C9E5D05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716" y="4447868"/>
            <a:ext cx="1790701" cy="58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0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A741E-248E-4DF3-A1A9-A46E20E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Склейка двумерных карт признаков</a:t>
            </a:r>
            <a:endParaRPr lang="ru-RU" dirty="0"/>
          </a:p>
        </p:txBody>
      </p:sp>
      <p:pic>
        <p:nvPicPr>
          <p:cNvPr id="12" name="Рисунок 12" descr="Изображение выглядит как внешний, человек, земля, фотография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FB47C4A3-67DC-42F2-9BF7-5A9709539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618" y="1833135"/>
            <a:ext cx="8097653" cy="4314517"/>
          </a:xfrm>
          <a:prstGeom prst="rect">
            <a:avLst/>
          </a:prstGeo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BCD9029-D24D-4373-AE8C-559EE63D00E8}"/>
              </a:ext>
            </a:extLst>
          </p:cNvPr>
          <p:cNvSpPr/>
          <p:nvPr/>
        </p:nvSpPr>
        <p:spPr>
          <a:xfrm>
            <a:off x="4901380" y="1828799"/>
            <a:ext cx="557981" cy="20696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240C61B-0940-405A-8944-C5C8D6402F5E}"/>
              </a:ext>
            </a:extLst>
          </p:cNvPr>
          <p:cNvSpPr/>
          <p:nvPr/>
        </p:nvSpPr>
        <p:spPr>
          <a:xfrm>
            <a:off x="4901379" y="4077928"/>
            <a:ext cx="557981" cy="20696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292C7-355A-4133-BE74-C1A0BCD70013}"/>
              </a:ext>
            </a:extLst>
          </p:cNvPr>
          <p:cNvSpPr txBox="1"/>
          <p:nvPr/>
        </p:nvSpPr>
        <p:spPr>
          <a:xfrm>
            <a:off x="9210366" y="2536722"/>
            <a:ext cx="2177846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Простое</a:t>
            </a:r>
          </a:p>
          <a:p>
            <a:pPr algn="ctr"/>
            <a:r>
              <a:rPr lang="ru-RU" dirty="0"/>
              <a:t>наложение</a:t>
            </a:r>
            <a:endParaRPr lang="ru-RU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7358-19D5-47B3-AAA1-9EEB2835C7A6}"/>
              </a:ext>
            </a:extLst>
          </p:cNvPr>
          <p:cNvSpPr txBox="1"/>
          <p:nvPr/>
        </p:nvSpPr>
        <p:spPr>
          <a:xfrm>
            <a:off x="8927690" y="4785850"/>
            <a:ext cx="274320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Склейка со</a:t>
            </a:r>
          </a:p>
          <a:p>
            <a:pPr algn="ctr"/>
            <a:r>
              <a:rPr lang="ru-RU" dirty="0">
                <a:cs typeface="Calibri"/>
              </a:rPr>
              <a:t>сглаживанием</a:t>
            </a:r>
          </a:p>
        </p:txBody>
      </p:sp>
    </p:spTree>
    <p:extLst>
      <p:ext uri="{BB962C8B-B14F-4D97-AF65-F5344CB8AC3E}">
        <p14:creationId xmlns:p14="http://schemas.microsoft.com/office/powerpoint/2010/main" val="113192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84E76-0152-44A9-9C22-051D5ECC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Склейка трёхмерных карт признаков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5" descr="Изображение выглядит как небо, внешний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C1CF98D5-B1D0-4415-AF7C-46EC6101D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082" y="1796572"/>
            <a:ext cx="8499183" cy="4133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E18C0-49AF-41B0-B25C-4D4C3633B4F7}"/>
              </a:ext>
            </a:extLst>
          </p:cNvPr>
          <p:cNvSpPr txBox="1"/>
          <p:nvPr/>
        </p:nvSpPr>
        <p:spPr>
          <a:xfrm>
            <a:off x="6801463" y="5941140"/>
            <a:ext cx="2804652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Простое наложение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DC0B5-370F-48A5-890F-0B2A749FDA33}"/>
              </a:ext>
            </a:extLst>
          </p:cNvPr>
          <p:cNvSpPr txBox="1"/>
          <p:nvPr/>
        </p:nvSpPr>
        <p:spPr>
          <a:xfrm>
            <a:off x="2524434" y="5941143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Склейка со сглаживанием</a:t>
            </a:r>
          </a:p>
        </p:txBody>
      </p:sp>
    </p:spTree>
    <p:extLst>
      <p:ext uri="{BB962C8B-B14F-4D97-AF65-F5344CB8AC3E}">
        <p14:creationId xmlns:p14="http://schemas.microsoft.com/office/powerpoint/2010/main" val="1355471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ADAA5-728B-4641-AB50-DF31DDB8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Итоги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4FA06-A8F3-4A1A-BDD1-3218E8BC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sz="2800" dirty="0">
                <a:cs typeface="Calibri"/>
              </a:rPr>
              <a:t>В результате данной работы был разработан инструмент, позволяющий состыковать несколько карт признаков (</a:t>
            </a:r>
            <a:r>
              <a:rPr lang="ru-RU" sz="2800" dirty="0" err="1">
                <a:cs typeface="Calibri"/>
              </a:rPr>
              <a:t>дву</a:t>
            </a:r>
            <a:r>
              <a:rPr lang="ru-RU" sz="2800" dirty="0">
                <a:cs typeface="Calibri"/>
              </a:rPr>
              <a:t>- или трёхмерных), чтобы получить одну карту объекта большего размера.</a:t>
            </a:r>
          </a:p>
          <a:p>
            <a:r>
              <a:rPr lang="ru-RU" sz="2800" dirty="0">
                <a:cs typeface="Calibri"/>
              </a:rPr>
              <a:t>В дальнейшем, имея данный инструмент, можно будет приступить непосредственно к решению проблемы </a:t>
            </a:r>
            <a:r>
              <a:rPr lang="ru-RU" sz="2800" dirty="0" err="1">
                <a:cs typeface="Calibri"/>
              </a:rPr>
              <a:t>ремасштабирования</a:t>
            </a:r>
            <a:r>
              <a:rPr lang="ru-RU" sz="2800" dirty="0">
                <a:cs typeface="Calibri"/>
              </a:rPr>
              <a:t> карт признаков.</a:t>
            </a:r>
          </a:p>
          <a:p>
            <a:pPr marL="0" indent="0">
              <a:buNone/>
            </a:pP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80060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Широкоэкранный</PresentationFormat>
  <Paragraphs>0</Paragraphs>
  <Slides>7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Retrospect</vt:lpstr>
      <vt:lpstr>Компьютерная модель ремасштабирования сложных сцен для моделей процессов переноса</vt:lpstr>
      <vt:lpstr>Цель работы</vt:lpstr>
      <vt:lpstr>Постановка задачи</vt:lpstr>
      <vt:lpstr>Постановка задачи</vt:lpstr>
      <vt:lpstr>Склейка двумерных карт признаков</vt:lpstr>
      <vt:lpstr>Склейка трёхмерных карт признаков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10</cp:revision>
  <dcterms:created xsi:type="dcterms:W3CDTF">2014-09-12T02:11:56Z</dcterms:created>
  <dcterms:modified xsi:type="dcterms:W3CDTF">2018-04-03T12:56:37Z</dcterms:modified>
</cp:coreProperties>
</file>