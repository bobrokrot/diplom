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B54FF-4895-48BD-8F48-A19C171F8785}" type="datetimeFigureOut">
              <a:rPr lang="ru-RU"/>
              <a:t>21.05.2018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C31A6-C82B-43A8-8A56-359B95708408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02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30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C31A6-C82B-43A8-8A56-359B95708408}" type="slidenum">
              <a:rPr lang="ru-RU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30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3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766" y="1753530"/>
            <a:ext cx="10326586" cy="14509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 err="1"/>
              <a:t>Компьютерная</a:t>
            </a:r>
            <a:r>
              <a:rPr lang="en-US" sz="5400" dirty="0"/>
              <a:t> </a:t>
            </a:r>
            <a:r>
              <a:rPr lang="en-US" sz="5400" dirty="0" err="1"/>
              <a:t>модель</a:t>
            </a:r>
            <a:r>
              <a:rPr lang="en-US" sz="5400" dirty="0"/>
              <a:t> </a:t>
            </a:r>
            <a:r>
              <a:rPr lang="en-US" sz="5400" dirty="0" err="1"/>
              <a:t>ремасштабирования</a:t>
            </a:r>
            <a:r>
              <a:rPr lang="en-US" sz="5400" dirty="0"/>
              <a:t> </a:t>
            </a:r>
            <a:r>
              <a:rPr lang="en-US" sz="5400" dirty="0" err="1"/>
              <a:t>сложных</a:t>
            </a:r>
            <a:r>
              <a:rPr lang="en-US" sz="5400" dirty="0"/>
              <a:t> </a:t>
            </a:r>
            <a:r>
              <a:rPr lang="en-US" sz="5400" dirty="0" err="1"/>
              <a:t>сцен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для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моделей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процессов</a:t>
            </a:r>
            <a:r>
              <a:rPr lang="en-US" sz="5400" dirty="0">
                <a:solidFill>
                  <a:srgbClr val="404040"/>
                </a:solidFill>
                <a:ea typeface="+mj-lt"/>
                <a:cs typeface="+mj-lt"/>
              </a:rPr>
              <a:t> </a:t>
            </a:r>
            <a:r>
              <a:rPr lang="en-US" sz="5400" dirty="0" err="1">
                <a:solidFill>
                  <a:srgbClr val="404040"/>
                </a:solidFill>
                <a:ea typeface="+mj-lt"/>
                <a:cs typeface="+mj-lt"/>
              </a:rPr>
              <a:t>переноса</a:t>
            </a:r>
            <a:endParaRPr lang="en-US" sz="5400" dirty="0" err="1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6217" y="5265014"/>
            <a:ext cx="5700305" cy="646331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ru-RU" dirty="0"/>
              <a:t>Автор: Дейнека Д.А., 435 группа</a:t>
            </a:r>
          </a:p>
          <a:p>
            <a:r>
              <a:rPr lang="ru-RU" dirty="0"/>
              <a:t>Научный руководитель: к.т.н., доцент Грачёв Е.А.</a:t>
            </a:r>
          </a:p>
        </p:txBody>
      </p:sp>
    </p:spTree>
    <p:extLst>
      <p:ext uri="{BB962C8B-B14F-4D97-AF65-F5344CB8AC3E}">
        <p14:creationId xmlns:p14="http://schemas.microsoft.com/office/powerpoint/2010/main" val="292938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ru-RU" sz="2800" dirty="0"/>
              <a:t>Цель работы: разработка механизма, позволяющего с некоторой точностью решать задачу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r>
              <a:rPr lang="ru-RU" sz="2800" dirty="0"/>
              <a:t>При решении задачи </a:t>
            </a:r>
            <a:r>
              <a:rPr lang="ru-RU" sz="2800" dirty="0" err="1"/>
              <a:t>ремасштабирования</a:t>
            </a:r>
            <a:r>
              <a:rPr lang="ru-RU" sz="2800" dirty="0"/>
              <a:t> мы неизбежно столкнёмся с необходимостью построения карт признаков различных размеров. Поэтому в рамках данной работы были поставлены следующие задачи: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двумерных карт признаков.</a:t>
            </a:r>
            <a:endParaRPr lang="ru-RU" sz="2800" dirty="0">
              <a:cs typeface="Calibri"/>
            </a:endParaRPr>
          </a:p>
          <a:p>
            <a:r>
              <a:rPr lang="ru-RU" sz="2800" dirty="0"/>
              <a:t> — Склейка трёхмерных карт признаков.</a:t>
            </a: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sz="2800" dirty="0">
              <a:cs typeface="Calibri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51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96652-050D-4076-9D17-FDDBB4EF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B3F04-2C48-4DBA-9C2F-69774A80B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dirty="0">
                <a:cs typeface="Calibri"/>
              </a:rPr>
              <a:t>S — область определения одного изображения;</a:t>
            </a:r>
          </a:p>
          <a:p>
            <a:r>
              <a:rPr lang="ru-RU" dirty="0">
                <a:cs typeface="Calibri"/>
              </a:rPr>
              <a:t>Ω — замкнутое подмножество S с границей </a:t>
            </a:r>
            <a:r>
              <a:rPr lang="ru-RU" dirty="0" err="1">
                <a:cs typeface="Calibri"/>
              </a:rPr>
              <a:t>δΩ</a:t>
            </a:r>
            <a:r>
              <a:rPr lang="ru-RU" dirty="0">
                <a:cs typeface="Calibri"/>
              </a:rPr>
              <a:t>, область пересечения изображений;</a:t>
            </a:r>
          </a:p>
          <a:p>
            <a:r>
              <a:rPr lang="ru-RU" dirty="0">
                <a:cs typeface="Calibri"/>
              </a:rPr>
              <a:t>f*:                   — скалярная известная функция, определённая на S;</a:t>
            </a:r>
          </a:p>
          <a:p>
            <a:r>
              <a:rPr lang="ru-RU" dirty="0">
                <a:cs typeface="Calibri"/>
              </a:rPr>
              <a:t>f:                 — скалярная неизвестная функция, определённая на Ω.</a:t>
            </a:r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CC091357-9EC0-4B11-B0CC-6AF2A719AD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6537" y="2478840"/>
            <a:ext cx="4943475" cy="2752725"/>
          </a:xfrm>
          <a:prstGeom prst="rect">
            <a:avLst/>
          </a:prstGeom>
        </p:spPr>
      </p:pic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5866D90A-198C-415D-8205-04D7523D2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27" y="3600912"/>
            <a:ext cx="971550" cy="295275"/>
          </a:xfrm>
          <a:prstGeom prst="rect">
            <a:avLst/>
          </a:prstGeom>
        </p:spPr>
      </p:pic>
      <p:pic>
        <p:nvPicPr>
          <p:cNvPr id="7" name="Рисунок 5">
            <a:extLst>
              <a:ext uri="{FF2B5EF4-FFF2-40B4-BE49-F238E27FC236}">
                <a16:creationId xmlns:a16="http://schemas.microsoft.com/office/drawing/2014/main" id="{49929B0B-09CE-4017-B331-E90B0217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25" y="4313903"/>
            <a:ext cx="9715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70104-AF82-407C-98CA-53357F67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Постановка задачи</a:t>
            </a:r>
            <a:endParaRPr lang="ru-RU" dirty="0"/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AB84BA10-9C09-4209-9498-F606AED768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7920" y="2484348"/>
            <a:ext cx="4937760" cy="2746134"/>
          </a:xfrm>
          <a:prstGeom prst="rect">
            <a:avLst/>
          </a:prstGeom>
        </p:spPr>
      </p:pic>
      <p:pic>
        <p:nvPicPr>
          <p:cNvPr id="13" name="Рисунок 13" descr="Изображение выглядит как объек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57D46B7E-8CFE-4A4C-91C5-50BE903876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64140" y="2349237"/>
            <a:ext cx="2656554" cy="8778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A4A5A5-ACE4-4C4F-910A-0426E6CA3293}"/>
              </a:ext>
            </a:extLst>
          </p:cNvPr>
          <p:cNvSpPr txBox="1"/>
          <p:nvPr/>
        </p:nvSpPr>
        <p:spPr>
          <a:xfrm>
            <a:off x="693173" y="1983657"/>
            <a:ext cx="5471651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Решаем задачу</a:t>
            </a:r>
            <a:r>
              <a:rPr lang="ru-RU" dirty="0">
                <a:cs typeface="Calibri"/>
              </a:rPr>
              <a:t> о минимизации функционала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15329C-CF7E-4D63-B9FD-6DFBAE3F5307}"/>
              </a:ext>
            </a:extLst>
          </p:cNvPr>
          <p:cNvSpPr txBox="1"/>
          <p:nvPr/>
        </p:nvSpPr>
        <p:spPr>
          <a:xfrm>
            <a:off x="693174" y="3237270"/>
            <a:ext cx="5606843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Где v</a:t>
            </a:r>
            <a:r>
              <a:rPr lang="ru-RU" dirty="0">
                <a:cs typeface="Calibri"/>
              </a:rPr>
              <a:t> — вектор направлений; дополнительный параметр, определённый в области Ω.</a:t>
            </a:r>
          </a:p>
          <a:p>
            <a:r>
              <a:rPr lang="ru-RU" dirty="0">
                <a:cs typeface="Calibri"/>
              </a:rPr>
              <a:t>Далее задача сводится к решению уравнения Пуассона с граничными условиями Дирихле.</a:t>
            </a:r>
          </a:p>
        </p:txBody>
      </p:sp>
      <p:pic>
        <p:nvPicPr>
          <p:cNvPr id="17" name="Рисунок 17">
            <a:extLst>
              <a:ext uri="{FF2B5EF4-FFF2-40B4-BE49-F238E27FC236}">
                <a16:creationId xmlns:a16="http://schemas.microsoft.com/office/drawing/2014/main" id="{182BE58A-AF4A-44DE-A2A1-2BC08E09D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020" y="4404237"/>
            <a:ext cx="1872125" cy="618204"/>
          </a:xfrm>
          <a:prstGeom prst="rect">
            <a:avLst/>
          </a:prstGeom>
        </p:spPr>
      </p:pic>
      <p:pic>
        <p:nvPicPr>
          <p:cNvPr id="19" name="Рисунок 19" descr="Изображение выглядит как объек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2AC51BDB-D5F5-4663-BA2F-57C9E5D05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716" y="4447868"/>
            <a:ext cx="1790701" cy="58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0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2D628-6205-4720-9F2F-00FA6162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Выбор параметра</a:t>
            </a:r>
            <a:endParaRPr lang="ru-RU" dirty="0"/>
          </a:p>
        </p:txBody>
      </p:sp>
      <p:pic>
        <p:nvPicPr>
          <p:cNvPr id="4" name="Рисунок 4" descr="Изображение выглядит как музыка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09E45DF0-4A58-49C9-9822-10C1D5E07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2265" y="2880793"/>
            <a:ext cx="1327047" cy="404658"/>
          </a:xfrm>
          <a:prstGeom prst="rect">
            <a:avLst/>
          </a:prstGeom>
        </p:spPr>
      </p:pic>
      <p:pic>
        <p:nvPicPr>
          <p:cNvPr id="6" name="Рисунок 6" descr="Изображение выглядит как объект, часы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F13730AC-9A7A-4317-A571-9E7CA65B2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274" y="3640394"/>
            <a:ext cx="3193640" cy="953729"/>
          </a:xfrm>
          <a:prstGeom prst="rect">
            <a:avLst/>
          </a:prstGeom>
        </p:spPr>
      </p:pic>
      <p:pic>
        <p:nvPicPr>
          <p:cNvPr id="8" name="Рисунок 8" descr="Изображение выглядит как объек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C360980A-33BE-4A90-87AC-B3868F80E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22" y="4948198"/>
            <a:ext cx="5201264" cy="1078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297E65-FDD9-47CD-992B-BF5F4492A645}"/>
              </a:ext>
            </a:extLst>
          </p:cNvPr>
          <p:cNvSpPr txBox="1"/>
          <p:nvPr/>
        </p:nvSpPr>
        <p:spPr>
          <a:xfrm>
            <a:off x="1098754" y="2917721"/>
            <a:ext cx="4844843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cs typeface="Calibri"/>
              </a:rPr>
              <a:t>1) Градиент одного из изображений</a:t>
            </a:r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35D759-6DAB-4941-AD10-B7EAE7A3C024}"/>
              </a:ext>
            </a:extLst>
          </p:cNvPr>
          <p:cNvSpPr txBox="1"/>
          <p:nvPr/>
        </p:nvSpPr>
        <p:spPr>
          <a:xfrm>
            <a:off x="1098754" y="3913238"/>
            <a:ext cx="4242619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2</a:t>
            </a:r>
            <a:r>
              <a:rPr lang="ru-RU" sz="2000" dirty="0">
                <a:cs typeface="Calibri"/>
              </a:rPr>
              <a:t>) Усреднённый градиент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A76FE6-F225-430A-A8F1-D7E230182E8C}"/>
              </a:ext>
            </a:extLst>
          </p:cNvPr>
          <p:cNvSpPr txBox="1"/>
          <p:nvPr/>
        </p:nvSpPr>
        <p:spPr>
          <a:xfrm>
            <a:off x="1098753" y="5252885"/>
            <a:ext cx="3824748" cy="40011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/>
              <a:t>3</a:t>
            </a:r>
            <a:r>
              <a:rPr lang="ru-RU" sz="2000" dirty="0">
                <a:cs typeface="Calibri"/>
              </a:rPr>
              <a:t>) Максимум градиентов</a:t>
            </a:r>
            <a:endParaRPr lang="ru-RU" dirty="0"/>
          </a:p>
        </p:txBody>
      </p:sp>
      <p:pic>
        <p:nvPicPr>
          <p:cNvPr id="16" name="Рисунок 13" descr="Изображение выглядит как объек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A33D38E7-AA88-4465-B88A-8EDD52653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431" y="1820753"/>
            <a:ext cx="2656554" cy="87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89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10">
            <a:extLst>
              <a:ext uri="{FF2B5EF4-FFF2-40B4-BE49-F238E27FC236}">
                <a16:creationId xmlns:a16="http://schemas.microsoft.com/office/drawing/2014/main" id="{088D680B-40A3-41F2-8697-D15E777F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2" y="236750"/>
            <a:ext cx="11469329" cy="6040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552EA6-328E-43FD-8F1C-D64A7C2CF059}"/>
              </a:ext>
            </a:extLst>
          </p:cNvPr>
          <p:cNvSpPr txBox="1"/>
          <p:nvPr/>
        </p:nvSpPr>
        <p:spPr>
          <a:xfrm>
            <a:off x="7219334" y="644013"/>
            <a:ext cx="3259393" cy="584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Без сглаживания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05F3-0831-4B7C-81FC-6DE38B4FE684}"/>
              </a:ext>
            </a:extLst>
          </p:cNvPr>
          <p:cNvSpPr txBox="1"/>
          <p:nvPr/>
        </p:nvSpPr>
        <p:spPr>
          <a:xfrm>
            <a:off x="7219334" y="156578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левого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изображения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FC761-D1A0-4215-BE4C-187269241E10}"/>
              </a:ext>
            </a:extLst>
          </p:cNvPr>
          <p:cNvSpPr txBox="1"/>
          <p:nvPr/>
        </p:nvSpPr>
        <p:spPr>
          <a:xfrm>
            <a:off x="7219334" y="272107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правого изображения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88230-BCF0-44C6-8206-5D3119F4B51E}"/>
              </a:ext>
            </a:extLst>
          </p:cNvPr>
          <p:cNvSpPr txBox="1"/>
          <p:nvPr/>
        </p:nvSpPr>
        <p:spPr>
          <a:xfrm>
            <a:off x="7219334" y="3876366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Усреднённый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градиент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6DF46-E9A1-4D1D-AF79-09F702A66F1B}"/>
              </a:ext>
            </a:extLst>
          </p:cNvPr>
          <p:cNvSpPr txBox="1"/>
          <p:nvPr/>
        </p:nvSpPr>
        <p:spPr>
          <a:xfrm>
            <a:off x="7219333" y="5056237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  <a:cs typeface="Calibri"/>
              </a:rPr>
              <a:t>Максимум градиентов</a:t>
            </a:r>
            <a:endParaRPr lang="ru-RU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60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4" descr="Изображение выглядит как человек, трав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BB7FCA3C-5A9D-4151-88BF-FB70DDDBE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4" y="224460"/>
            <a:ext cx="11321845" cy="5966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500120-DB4B-4A56-9FDB-6D7DB7356F4A}"/>
              </a:ext>
            </a:extLst>
          </p:cNvPr>
          <p:cNvSpPr txBox="1"/>
          <p:nvPr/>
        </p:nvSpPr>
        <p:spPr>
          <a:xfrm>
            <a:off x="7280786" y="594851"/>
            <a:ext cx="3259393" cy="584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Без сглаживания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B673B-94B4-4994-B4BA-C40478B9FBDE}"/>
              </a:ext>
            </a:extLst>
          </p:cNvPr>
          <p:cNvSpPr txBox="1"/>
          <p:nvPr/>
        </p:nvSpPr>
        <p:spPr>
          <a:xfrm>
            <a:off x="7280786" y="1516625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левого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изображения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C1C9B-A460-423B-A45D-B11D64D058DF}"/>
              </a:ext>
            </a:extLst>
          </p:cNvPr>
          <p:cNvSpPr txBox="1"/>
          <p:nvPr/>
        </p:nvSpPr>
        <p:spPr>
          <a:xfrm>
            <a:off x="7280786" y="2671915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Градиент правого изображения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80FE7-8112-453C-9C45-41FE57520EB7}"/>
              </a:ext>
            </a:extLst>
          </p:cNvPr>
          <p:cNvSpPr txBox="1"/>
          <p:nvPr/>
        </p:nvSpPr>
        <p:spPr>
          <a:xfrm>
            <a:off x="7280786" y="3827205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</a:rPr>
              <a:t>Усреднённый</a:t>
            </a:r>
            <a:r>
              <a:rPr lang="ru-RU" sz="3200" dirty="0">
                <a:solidFill>
                  <a:srgbClr val="FFC000"/>
                </a:solidFill>
                <a:cs typeface="Calibri"/>
              </a:rPr>
              <a:t> градиент</a:t>
            </a:r>
            <a:endParaRPr lang="ru-RU" sz="3200" dirty="0">
              <a:solidFill>
                <a:srgbClr val="FFC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F9F4C4-5474-4D47-B636-98B294598CC6}"/>
              </a:ext>
            </a:extLst>
          </p:cNvPr>
          <p:cNvSpPr txBox="1"/>
          <p:nvPr/>
        </p:nvSpPr>
        <p:spPr>
          <a:xfrm>
            <a:off x="7280786" y="5007078"/>
            <a:ext cx="3259393" cy="1077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3200" dirty="0">
                <a:solidFill>
                  <a:srgbClr val="FFC000"/>
                </a:solidFill>
                <a:cs typeface="Calibri"/>
              </a:rPr>
              <a:t>Максимум градиентов</a:t>
            </a:r>
            <a:endParaRPr lang="ru-RU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8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5" descr="Изображение выглядит как небо, внешний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C1CF98D5-B1D0-4415-AF7C-46EC6101D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92" y="174251"/>
            <a:ext cx="11829860" cy="5756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9E18C0-49AF-41B0-B25C-4D4C3633B4F7}"/>
              </a:ext>
            </a:extLst>
          </p:cNvPr>
          <p:cNvSpPr txBox="1"/>
          <p:nvPr/>
        </p:nvSpPr>
        <p:spPr>
          <a:xfrm>
            <a:off x="7551172" y="5941140"/>
            <a:ext cx="2804652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Простое наложение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DC0B5-370F-48A5-890F-0B2A749FDA33}"/>
              </a:ext>
            </a:extLst>
          </p:cNvPr>
          <p:cNvSpPr txBox="1"/>
          <p:nvPr/>
        </p:nvSpPr>
        <p:spPr>
          <a:xfrm>
            <a:off x="1799305" y="5941145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Calibri"/>
              </a:rPr>
              <a:t>Склейка со сглаживанием</a:t>
            </a:r>
          </a:p>
        </p:txBody>
      </p:sp>
    </p:spTree>
    <p:extLst>
      <p:ext uri="{BB962C8B-B14F-4D97-AF65-F5344CB8AC3E}">
        <p14:creationId xmlns:p14="http://schemas.microsoft.com/office/powerpoint/2010/main" val="135547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ADAA5-728B-4641-AB50-DF31DDB8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Итоги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44FA06-A8F3-4A1A-BDD1-3218E8BC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ru-RU" sz="2800" dirty="0">
                <a:cs typeface="Calibri"/>
              </a:rPr>
              <a:t>В результате данной работы был разработан инструмент, позволяющий состыковать несколько карт признаков (</a:t>
            </a:r>
            <a:r>
              <a:rPr lang="ru-RU" sz="2800" dirty="0" err="1">
                <a:cs typeface="Calibri"/>
              </a:rPr>
              <a:t>дву</a:t>
            </a:r>
            <a:r>
              <a:rPr lang="ru-RU" sz="2800" dirty="0">
                <a:cs typeface="Calibri"/>
              </a:rPr>
              <a:t>- или трёхмерных), чтобы получить одну карту объекта большего размера.</a:t>
            </a:r>
          </a:p>
          <a:p>
            <a:r>
              <a:rPr lang="ru-RU" sz="2800" dirty="0">
                <a:cs typeface="Calibri"/>
              </a:rPr>
              <a:t>В дальнейшем, имея данный инструмент, можно будет приступить непосредственно к решению проблемы </a:t>
            </a:r>
            <a:r>
              <a:rPr lang="ru-RU" sz="2800" dirty="0" err="1">
                <a:cs typeface="Calibri"/>
              </a:rPr>
              <a:t>ремасштабирования</a:t>
            </a:r>
            <a:r>
              <a:rPr lang="ru-RU" sz="2800" dirty="0">
                <a:cs typeface="Calibri"/>
              </a:rPr>
              <a:t> карт признаков.</a:t>
            </a:r>
          </a:p>
          <a:p>
            <a:pPr marL="0" indent="0">
              <a:buNone/>
            </a:pP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80060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Широкоэкранный</PresentationFormat>
  <Paragraphs>0</Paragraphs>
  <Slides>9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Retrospect</vt:lpstr>
      <vt:lpstr>Компьютерная модель ремасштабирования сложных сцен для моделей процессов переноса</vt:lpstr>
      <vt:lpstr>Цель работы</vt:lpstr>
      <vt:lpstr>Постановка задачи</vt:lpstr>
      <vt:lpstr>Постановка задачи</vt:lpstr>
      <vt:lpstr>Выбор параметра</vt:lpstr>
      <vt:lpstr>Презентация PowerPoint</vt:lpstr>
      <vt:lpstr>Презентация PowerPoint</vt:lpstr>
      <vt:lpstr>Презентация PowerPoint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10</cp:revision>
  <dcterms:created xsi:type="dcterms:W3CDTF">2014-09-12T02:11:56Z</dcterms:created>
  <dcterms:modified xsi:type="dcterms:W3CDTF">2018-05-21T16:26:10Z</dcterms:modified>
</cp:coreProperties>
</file>